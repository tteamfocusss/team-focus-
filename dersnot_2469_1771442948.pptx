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12801600" cy="9601200" type="A3"/>
  <p:notesSz cx="6858000" cy="99472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D3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9" autoAdjust="0"/>
    <p:restoredTop sz="94660"/>
  </p:normalViewPr>
  <p:slideViewPr>
    <p:cSldViewPr snapToGrid="0">
      <p:cViewPr varScale="1">
        <p:scale>
          <a:sx n="68" d="100"/>
          <a:sy n="68" d="100"/>
        </p:scale>
        <p:origin x="99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@TTECH_WORK\2019_CALISMA\&#199;evik%20Metrikler\2019_CIT_&#199;evik_Metrikl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tr-TR" sz="1600" b="1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  <a:ea typeface="+mn-ea"/>
                <a:cs typeface="+mn-cs"/>
              </a:defRPr>
            </a:pPr>
            <a:r>
              <a:rPr lang="tr-TR" sz="1600" b="1" kern="12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  <a:ea typeface="+mn-ea"/>
                <a:cs typeface="+mn-cs"/>
              </a:rPr>
              <a:t>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tr-TR" sz="1600" b="1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Script" panose="030B0504020000000003" pitchFamily="66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Planlanan SP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1E-49CD-8688-E3F6289AF6CA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Actual SP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Sheet1!$D$2:$D$4</c:f>
              <c:numCache>
                <c:formatCode>General</c:formatCode>
                <c:ptCount val="3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1E-49CD-8688-E3F6289AF6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789760"/>
        <c:axId val="62147072"/>
      </c:barChart>
      <c:catAx>
        <c:axId val="65789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147072"/>
        <c:crosses val="autoZero"/>
        <c:auto val="1"/>
        <c:lblAlgn val="ctr"/>
        <c:lblOffset val="100"/>
        <c:noMultiLvlLbl val="0"/>
      </c:catAx>
      <c:valAx>
        <c:axId val="62147072"/>
        <c:scaling>
          <c:orientation val="minMax"/>
          <c:max val="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9760"/>
        <c:crosses val="autoZero"/>
        <c:crossBetween val="between"/>
        <c:majorUnit val="5"/>
        <c:minorUnit val="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9999974026392301E-2"/>
          <c:y val="0.84886416230223172"/>
          <c:w val="0.89999979221113846"/>
          <c:h val="0.151135837697768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tr-TR" sz="1600" b="1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Script" panose="030B0504020000000003" pitchFamily="66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2280" cy="498634"/>
          </a:xfrm>
          <a:prstGeom prst="rect">
            <a:avLst/>
          </a:prstGeom>
        </p:spPr>
        <p:txBody>
          <a:bodyPr vert="horz" lIns="91742" tIns="45871" rIns="91742" bIns="4587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120" y="1"/>
            <a:ext cx="2972280" cy="498634"/>
          </a:xfrm>
          <a:prstGeom prst="rect">
            <a:avLst/>
          </a:prstGeom>
        </p:spPr>
        <p:txBody>
          <a:bodyPr vert="horz" lIns="91742" tIns="45871" rIns="91742" bIns="45871" rtlCol="0"/>
          <a:lstStyle>
            <a:lvl1pPr algn="r">
              <a:defRPr sz="1200"/>
            </a:lvl1pPr>
          </a:lstStyle>
          <a:p>
            <a:fld id="{4F1E9A54-8EC4-4F9B-9444-33587BB17125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641"/>
            <a:ext cx="2972280" cy="498634"/>
          </a:xfrm>
          <a:prstGeom prst="rect">
            <a:avLst/>
          </a:prstGeom>
        </p:spPr>
        <p:txBody>
          <a:bodyPr vert="horz" lIns="91742" tIns="45871" rIns="91742" bIns="4587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120" y="9448641"/>
            <a:ext cx="2972280" cy="498634"/>
          </a:xfrm>
          <a:prstGeom prst="rect">
            <a:avLst/>
          </a:prstGeom>
        </p:spPr>
        <p:txBody>
          <a:bodyPr vert="horz" lIns="91742" tIns="45871" rIns="91742" bIns="45871" rtlCol="0" anchor="b"/>
          <a:lstStyle>
            <a:lvl1pPr algn="r">
              <a:defRPr sz="1200"/>
            </a:lvl1pPr>
          </a:lstStyle>
          <a:p>
            <a:fld id="{29F47B23-D721-4F7B-A147-BA1C14CE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53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2280" cy="498634"/>
          </a:xfrm>
          <a:prstGeom prst="rect">
            <a:avLst/>
          </a:prstGeom>
        </p:spPr>
        <p:txBody>
          <a:bodyPr vert="horz" lIns="91742" tIns="45871" rIns="91742" bIns="4587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120" y="1"/>
            <a:ext cx="2972280" cy="498634"/>
          </a:xfrm>
          <a:prstGeom prst="rect">
            <a:avLst/>
          </a:prstGeom>
        </p:spPr>
        <p:txBody>
          <a:bodyPr vert="horz" lIns="91742" tIns="45871" rIns="91742" bIns="45871" rtlCol="0"/>
          <a:lstStyle>
            <a:lvl1pPr algn="r">
              <a:defRPr sz="1200"/>
            </a:lvl1pPr>
          </a:lstStyle>
          <a:p>
            <a:fld id="{DAF37448-09AC-4B19-A79C-E58970887E8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243013"/>
            <a:ext cx="447675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42" tIns="45871" rIns="91742" bIns="4587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6281" y="4787842"/>
            <a:ext cx="5485439" cy="3916025"/>
          </a:xfrm>
          <a:prstGeom prst="rect">
            <a:avLst/>
          </a:prstGeom>
        </p:spPr>
        <p:txBody>
          <a:bodyPr vert="horz" lIns="91742" tIns="45871" rIns="91742" bIns="4587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641"/>
            <a:ext cx="2972280" cy="498634"/>
          </a:xfrm>
          <a:prstGeom prst="rect">
            <a:avLst/>
          </a:prstGeom>
        </p:spPr>
        <p:txBody>
          <a:bodyPr vert="horz" lIns="91742" tIns="45871" rIns="91742" bIns="4587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120" y="9448641"/>
            <a:ext cx="2972280" cy="498634"/>
          </a:xfrm>
          <a:prstGeom prst="rect">
            <a:avLst/>
          </a:prstGeom>
        </p:spPr>
        <p:txBody>
          <a:bodyPr vert="horz" lIns="91742" tIns="45871" rIns="91742" bIns="45871" rtlCol="0" anchor="b"/>
          <a:lstStyle>
            <a:lvl1pPr algn="r">
              <a:defRPr sz="1200"/>
            </a:lvl1pPr>
          </a:lstStyle>
          <a:p>
            <a:fld id="{315D3502-9CEB-4BDB-B0E4-E2E766BE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866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43F1-B61E-4488-A0A4-2C1CDA9594E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554-A26B-4E9F-ACFB-4E129CC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1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43F1-B61E-4488-A0A4-2C1CDA9594E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554-A26B-4E9F-ACFB-4E129CC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54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43F1-B61E-4488-A0A4-2C1CDA9594E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554-A26B-4E9F-ACFB-4E129CC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74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43F1-B61E-4488-A0A4-2C1CDA9594E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554-A26B-4E9F-ACFB-4E129CC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45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43F1-B61E-4488-A0A4-2C1CDA9594E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554-A26B-4E9F-ACFB-4E129CC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4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43F1-B61E-4488-A0A4-2C1CDA9594E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554-A26B-4E9F-ACFB-4E129CC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04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43F1-B61E-4488-A0A4-2C1CDA9594E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554-A26B-4E9F-ACFB-4E129CC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9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43F1-B61E-4488-A0A4-2C1CDA9594E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554-A26B-4E9F-ACFB-4E129CC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6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43F1-B61E-4488-A0A4-2C1CDA9594E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554-A26B-4E9F-ACFB-4E129CC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00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43F1-B61E-4488-A0A4-2C1CDA9594E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554-A26B-4E9F-ACFB-4E129CC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13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43F1-B61E-4488-A0A4-2C1CDA9594E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04554-A26B-4E9F-ACFB-4E129CC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A43F1-B61E-4488-A0A4-2C1CDA9594E6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04554-A26B-4E9F-ACFB-4E129CC45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1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514" y="-3227"/>
            <a:ext cx="12630413" cy="159744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6411" y="31996"/>
            <a:ext cx="1276518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vie" panose="04040805050809020602" pitchFamily="82" charset="0"/>
              </a:rPr>
              <a:t>AGILE </a:t>
            </a:r>
            <a:r>
              <a:rPr lang="tr-T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vie" panose="04040805050809020602" pitchFamily="82" charset="0"/>
              </a:rPr>
              <a:t>TEAM CANVAS</a:t>
            </a:r>
          </a:p>
        </p:txBody>
      </p:sp>
      <p:pic>
        <p:nvPicPr>
          <p:cNvPr id="2050" name="Picture 2" descr="TEAM ile ilgili görsel sonucu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09" y="795496"/>
            <a:ext cx="1766970" cy="730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>
            <a:cxnSpLocks/>
          </p:cNvCxnSpPr>
          <p:nvPr/>
        </p:nvCxnSpPr>
        <p:spPr>
          <a:xfrm flipV="1">
            <a:off x="2935298" y="1499273"/>
            <a:ext cx="4125126" cy="766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91846" y="837006"/>
            <a:ext cx="1263680" cy="669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</a:t>
            </a:r>
          </a:p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NAME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8138294" y="1481094"/>
            <a:ext cx="4583635" cy="3879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98972" y="837006"/>
            <a:ext cx="1173008" cy="669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</a:t>
            </a:r>
          </a:p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MISSION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7" name="Picture 4" descr="star simple ile ilgili görsel sonucu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6" t="12602" r="15550" b="17194"/>
          <a:stretch/>
        </p:blipFill>
        <p:spPr bwMode="auto">
          <a:xfrm>
            <a:off x="7469034" y="946354"/>
            <a:ext cx="609600" cy="53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9" name="Straight Connector 88"/>
          <p:cNvCxnSpPr/>
          <p:nvPr/>
        </p:nvCxnSpPr>
        <p:spPr>
          <a:xfrm flipV="1">
            <a:off x="10863633" y="394792"/>
            <a:ext cx="1858295" cy="6896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107371" y="1722920"/>
            <a:ext cx="2667126" cy="390050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94812" y="1754499"/>
            <a:ext cx="2356288" cy="669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</a:t>
            </a:r>
          </a:p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MEMBERS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05797" y="5727703"/>
            <a:ext cx="2667126" cy="232063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91515" y="5864568"/>
            <a:ext cx="2356288" cy="32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ROLES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891846" y="1722919"/>
            <a:ext cx="2667126" cy="32300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101130" y="8142105"/>
            <a:ext cx="2667126" cy="128343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94562" y="8175798"/>
            <a:ext cx="2356288" cy="32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ESTIMATE SCORE?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891846" y="5078817"/>
            <a:ext cx="2667126" cy="261738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8479845" y="3190198"/>
            <a:ext cx="4242083" cy="33929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8570986" y="3302523"/>
            <a:ext cx="2964178" cy="32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AGREEMENT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873513" y="5133260"/>
            <a:ext cx="1492946" cy="669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CUSTOMER</a:t>
            </a:r>
          </a:p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PERSONA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2882428" y="1754499"/>
            <a:ext cx="2610758" cy="669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PRODUCTS </a:t>
            </a:r>
          </a:p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&amp; SERVICES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81179" y="1731342"/>
            <a:ext cx="2667126" cy="381305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5782006" y="1830933"/>
            <a:ext cx="2356288" cy="32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 TYPES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8479845" y="1744656"/>
            <a:ext cx="4242083" cy="13568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570986" y="1792408"/>
            <a:ext cx="3963914" cy="32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rPr>
              <a:t>MOTTO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Script" panose="030B0504020000000003" pitchFamily="66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5681179" y="5701756"/>
            <a:ext cx="2667126" cy="372378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5647891" y="6838616"/>
            <a:ext cx="2745431" cy="891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STORY POINT DEFINITION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(SP ?)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2891846" y="7771620"/>
            <a:ext cx="2667126" cy="165391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2935298" y="7834375"/>
            <a:ext cx="2356288" cy="32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pPr algn="l"/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TECHNOLOGIES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074" name="Picture 2" descr="İlgili resim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2" t="5984" r="6179" b="12721"/>
          <a:stretch/>
        </p:blipFill>
        <p:spPr bwMode="auto">
          <a:xfrm>
            <a:off x="1924970" y="1761422"/>
            <a:ext cx="693059" cy="68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İlgili resim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5" t="2179" r="5253" b="6481"/>
          <a:stretch/>
        </p:blipFill>
        <p:spPr bwMode="auto">
          <a:xfrm>
            <a:off x="1988035" y="5801507"/>
            <a:ext cx="685393" cy="70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İlgili resim"/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040404">
                  <a:alpha val="5882"/>
                </a:srgbClr>
              </a:clrFrom>
              <a:clrTo>
                <a:srgbClr val="04040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3" t="11011" r="10162" b="14641"/>
          <a:stretch/>
        </p:blipFill>
        <p:spPr bwMode="auto">
          <a:xfrm>
            <a:off x="4816193" y="1748923"/>
            <a:ext cx="682625" cy="63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stakeholder icon ile ilgili görsel sonucu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754" y="4997333"/>
            <a:ext cx="547064" cy="54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İlgili resim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5" t="4832" r="6794" b="10564"/>
          <a:stretch/>
        </p:blipFill>
        <p:spPr bwMode="auto">
          <a:xfrm>
            <a:off x="4949949" y="7833405"/>
            <a:ext cx="548869" cy="56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İlgili resim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331" y="1800870"/>
            <a:ext cx="700302" cy="70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processes icon ile ilgili görsel sonucu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866" y="5843674"/>
            <a:ext cx="995681" cy="74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motivation icon ile ilgili görsel sonucu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08"/>
          <a:stretch/>
        </p:blipFill>
        <p:spPr bwMode="auto">
          <a:xfrm>
            <a:off x="11792301" y="1776132"/>
            <a:ext cx="742599" cy="667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TextBox 108"/>
          <p:cNvSpPr txBox="1"/>
          <p:nvPr/>
        </p:nvSpPr>
        <p:spPr>
          <a:xfrm>
            <a:off x="10757184" y="129672"/>
            <a:ext cx="126368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pPr algn="l"/>
            <a:r>
              <a:rPr lang="tr-T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DATE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498B94-25B7-4E74-BCE8-DC156B485425}"/>
              </a:ext>
            </a:extLst>
          </p:cNvPr>
          <p:cNvSpPr/>
          <p:nvPr/>
        </p:nvSpPr>
        <p:spPr>
          <a:xfrm>
            <a:off x="4223252" y="4152467"/>
            <a:ext cx="3003658" cy="2615874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dk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E6652B-52C5-4938-9DDD-E6D155FDBFBD}"/>
              </a:ext>
            </a:extLst>
          </p:cNvPr>
          <p:cNvSpPr txBox="1"/>
          <p:nvPr/>
        </p:nvSpPr>
        <p:spPr>
          <a:xfrm>
            <a:off x="4949949" y="4222742"/>
            <a:ext cx="1660916" cy="32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cript" panose="030B0504020000000003" pitchFamily="66" charset="0"/>
              </a:defRPr>
            </a:lvl1pPr>
          </a:lstStyle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LOGO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9" name="Picture 16" descr="average time icon ile ilgili görsel sonucu">
            <a:extLst>
              <a:ext uri="{FF2B5EF4-FFF2-40B4-BE49-F238E27FC236}">
                <a16:creationId xmlns:a16="http://schemas.microsoft.com/office/drawing/2014/main" id="{0B25A6F5-ACF5-45D9-8710-F35F9D3DB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102" y="8625136"/>
            <a:ext cx="559261" cy="55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4" descr="AGREEMENT İCON ile ilgili görsel sonucu">
            <a:extLst>
              <a:ext uri="{FF2B5EF4-FFF2-40B4-BE49-F238E27FC236}">
                <a16:creationId xmlns:a16="http://schemas.microsoft.com/office/drawing/2014/main" id="{670F35C2-4F7D-49D0-B36C-98B9E2CC7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2301" y="3294211"/>
            <a:ext cx="786341" cy="78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792037C5-7E93-44DB-8D54-42291F49B7D8}"/>
              </a:ext>
            </a:extLst>
          </p:cNvPr>
          <p:cNvSpPr/>
          <p:nvPr/>
        </p:nvSpPr>
        <p:spPr>
          <a:xfrm>
            <a:off x="8480038" y="6692425"/>
            <a:ext cx="4242083" cy="273294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CFFA9FB1-C3DC-41A8-BA2D-4D9B15AD15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9373829"/>
              </p:ext>
            </p:extLst>
          </p:nvPr>
        </p:nvGraphicFramePr>
        <p:xfrm>
          <a:off x="8684838" y="6704781"/>
          <a:ext cx="3850062" cy="2612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C660148E-039A-EBFB-DDFE-46DE8C4ECEC7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" b="1"/>
          <a:stretch/>
        </p:blipFill>
        <p:spPr>
          <a:xfrm>
            <a:off x="131814" y="31996"/>
            <a:ext cx="940630" cy="940630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7364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1173</TotalTime>
  <Words>33</Words>
  <Application>Microsoft Office PowerPoint</Application>
  <PresentationFormat>A3 Paper (297x420 mm)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Ravie</vt:lpstr>
      <vt:lpstr>Segoe Script</vt:lpstr>
      <vt:lpstr>Office Theme</vt:lpstr>
      <vt:lpstr>PowerPoint Presentation</vt:lpstr>
    </vt:vector>
  </TitlesOfParts>
  <Company>Turkcell Iletisim Hizmetleri 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MESUT GOKALP</dc:creator>
  <cp:lastModifiedBy>Erkan SARIKAYA</cp:lastModifiedBy>
  <cp:revision>41</cp:revision>
  <cp:lastPrinted>2021-09-30T04:33:00Z</cp:lastPrinted>
  <dcterms:created xsi:type="dcterms:W3CDTF">2020-01-06T18:32:19Z</dcterms:created>
  <dcterms:modified xsi:type="dcterms:W3CDTF">2025-02-27T14:11:46Z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7e45977f-f376-4cc7-a064-2cd6d862b114</vt:lpwstr>
  </property>
  <property fmtid="{D5CDD505-2E9C-101B-9397-08002B2CF9AE}" pid="3" name="TURKCELLCLASSIFICATION">
    <vt:lpwstr>TURKCELL DAHİLİ</vt:lpwstr>
  </property>
</Properties>
</file>